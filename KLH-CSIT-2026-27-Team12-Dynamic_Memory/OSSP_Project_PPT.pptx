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7"/>
  </p:notesMasterIdLst>
  <p:sldIdLst>
    <p:sldId id="256" r:id="rId2"/>
    <p:sldId id="269" r:id="rId3"/>
    <p:sldId id="266" r:id="rId4"/>
    <p:sldId id="259" r:id="rId5"/>
    <p:sldId id="26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EB46A-26D9-4B79-A0BA-94F0685D32D0}" type="datetimeFigureOut">
              <a:rPr lang="en-US" smtClean="0"/>
              <a:t>10/31/2026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0B1D7-2D89-41AD-A35D-8CABD3C8F5C7}" type="slidenum">
              <a:rPr lang="en-US" smtClean="0"/>
              <a:t>‹#›</a:t>
            </a:fld>
            <a:endParaRPr lang="en-US"/>
          </a:p>
        </p:txBody>
      </p:sp>
    </p:spTree>
    <p:extLst>
      <p:ext uri="{BB962C8B-B14F-4D97-AF65-F5344CB8AC3E}">
        <p14:creationId xmlns:p14="http://schemas.microsoft.com/office/powerpoint/2010/main" val="1948375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E520A89-1EA5-4B48-949C-8D49FA71E17A}" type="datetime1">
              <a:rPr lang="en-US" smtClean="0"/>
              <a:t>10/31/2026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A0E909-4676-4DFF-ACF3-65FD721A0C35}" type="datetime1">
              <a:rPr lang="en-US" smtClean="0"/>
              <a:t>10/31/2026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A0D50A7-FC51-45F0-ACE8-52BE692F1158}" type="datetime1">
              <a:rPr lang="en-US" smtClean="0"/>
              <a:t>10/31/2026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166EF69A-9B98-48A6-8714-D502F21C59AC}" type="datetime1">
              <a:rPr lang="en-US" smtClean="0"/>
              <a:t>10/31/2026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F68901D-AE11-453B-BAB5-EBEBF3FD6D52}" type="datetime1">
              <a:rPr lang="en-US" smtClean="0"/>
              <a:t>10/31/2026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6EFD338-D2AE-4808-B786-CD8FFD22129C}" type="datetime1">
              <a:rPr lang="en-US" smtClean="0"/>
              <a:t>10/31/2026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9C5FCE24-E184-4609-AA44-1D31475DE58F}" type="datetime1">
              <a:rPr lang="en-US" smtClean="0"/>
              <a:t>10/31/2026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D2F83FF-62C9-4D61-84C4-3D92576553DA}" type="datetime1">
              <a:rPr lang="en-US" smtClean="0"/>
              <a:t>10/31/2026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C872C22-043C-453D-BC8F-50D3C2C8D791}" type="datetime1">
              <a:rPr lang="en-US" smtClean="0"/>
              <a:t>10/31/2026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0F6FA3-7D56-4F82-BC8C-4558DAB8F5A1}" type="datetime1">
              <a:rPr lang="en-US" smtClean="0"/>
              <a:t>10/31/2026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966328A-B452-492B-B140-676AC5719AC5}" type="datetime1">
              <a:rPr lang="en-US" smtClean="0"/>
              <a:t>10/31/2026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2448" y="652145"/>
            <a:ext cx="9163372" cy="2316480"/>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Operating system and system programming (25CS2104E)</a:t>
            </a:r>
            <a:br>
              <a:rPr lang="en-US" sz="4000" b="1" dirty="0">
                <a:solidFill>
                  <a:srgbClr val="C00000"/>
                </a:solidFill>
                <a:latin typeface="+mn-lt"/>
              </a:rPr>
            </a:br>
            <a:br>
              <a:rPr lang="en-US" sz="4000" b="1" dirty="0">
                <a:solidFill>
                  <a:srgbClr val="C00000"/>
                </a:solidFill>
                <a:latin typeface="+mn-lt"/>
              </a:rPr>
            </a:br>
            <a:r>
              <a:rPr lang="en-US" sz="3200" b="1" dirty="0">
                <a:solidFill>
                  <a:srgbClr val="C00000"/>
                </a:solidFill>
                <a:latin typeface="+mn-lt"/>
              </a:rPr>
              <a:t>Linux Dynamic Memory Allocation and Memory Monitoring System</a:t>
            </a:r>
          </a:p>
        </p:txBody>
      </p:sp>
      <p:sp>
        <p:nvSpPr>
          <p:cNvPr id="3" name="Subtitle 2"/>
          <p:cNvSpPr>
            <a:spLocks noGrp="1"/>
          </p:cNvSpPr>
          <p:nvPr>
            <p:ph type="subTitle" idx="1"/>
          </p:nvPr>
        </p:nvSpPr>
        <p:spPr>
          <a:xfrm>
            <a:off x="6640015" y="4846321"/>
            <a:ext cx="5384800" cy="1913890"/>
          </a:xfrm>
        </p:spPr>
        <p:txBody>
          <a:bodyPr/>
          <a:lstStyle/>
          <a:p>
            <a:r>
              <a:rPr lang="en-US" dirty="0">
                <a:solidFill>
                  <a:srgbClr val="002060"/>
                </a:solidFill>
              </a:rPr>
              <a:t>Team Members:</a:t>
            </a:r>
          </a:p>
          <a:p>
            <a:pPr marL="342900" indent="-342900">
              <a:buAutoNum type="alphaUcPeriod"/>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Kavya Sree     2520090143</a:t>
            </a:r>
          </a:p>
          <a:p>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P</a:t>
            </a:r>
            <a:r>
              <a:rPr lang="en-US" sz="18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 Srivalli             2520090040</a:t>
            </a:r>
          </a:p>
          <a:p>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V. Pavani              2520090041</a:t>
            </a:r>
          </a:p>
          <a:p>
            <a:endParaRPr lang="en-US" b="1" dirty="0">
              <a:solidFill>
                <a:schemeClr val="tx1"/>
              </a:solidFill>
            </a:endParaRPr>
          </a:p>
        </p:txBody>
      </p:sp>
      <p:sp>
        <p:nvSpPr>
          <p:cNvPr id="5" name="TextBox 4">
            <a:extLst>
              <a:ext uri="{FF2B5EF4-FFF2-40B4-BE49-F238E27FC236}">
                <a16:creationId xmlns:a16="http://schemas.microsoft.com/office/drawing/2014/main" id="{D2F78912-86E2-3DFA-A0B9-1E6CB3A9493D}"/>
              </a:ext>
            </a:extLst>
          </p:cNvPr>
          <p:cNvSpPr txBox="1"/>
          <p:nvPr/>
        </p:nvSpPr>
        <p:spPr>
          <a:xfrm>
            <a:off x="167185" y="4846321"/>
            <a:ext cx="4391167" cy="1508105"/>
          </a:xfrm>
          <a:prstGeom prst="rect">
            <a:avLst/>
          </a:prstGeom>
          <a:noFill/>
        </p:spPr>
        <p:txBody>
          <a:bodyPr wrap="square">
            <a:spAutoFit/>
          </a:bodyPr>
          <a:lstStyle/>
          <a:p>
            <a:pPr algn="ctr"/>
            <a:r>
              <a:rPr lang="en-US" sz="24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2400" kern="100" dirty="0">
              <a:latin typeface="Calibri" panose="020F0502020204030204" pitchFamily="34" charset="0"/>
              <a:ea typeface="Calibri" panose="020F0502020204030204" pitchFamily="34" charset="0"/>
              <a:cs typeface="Gautami" panose="020B0502040204020203" pitchFamily="34" charset="0"/>
            </a:endParaRPr>
          </a:p>
          <a:p>
            <a:pPr algn="ctr"/>
            <a:endParaRPr lang="en-US" sz="2200" b="1" dirty="0">
              <a:solidFill>
                <a:schemeClr val="tx1"/>
              </a:solidFill>
            </a:endParaRPr>
          </a:p>
          <a:p>
            <a:pPr algn="ctr"/>
            <a:r>
              <a:rPr lang="en-US" sz="2200" b="1" dirty="0">
                <a:solidFill>
                  <a:schemeClr val="tx1"/>
                </a:solidFill>
              </a:rPr>
              <a:t>Raghupathi M</a:t>
            </a:r>
          </a:p>
          <a:p>
            <a:pPr algn="ctr"/>
            <a:r>
              <a:rPr lang="en-US" sz="2400" b="1" dirty="0">
                <a:solidFill>
                  <a:schemeClr val="tx1"/>
                </a:solidFill>
              </a:rPr>
              <a:t>CSE Department</a:t>
            </a:r>
            <a:endParaRPr lang="en-US" sz="2400" dirty="0">
              <a:solidFill>
                <a:schemeClr val="tx1"/>
              </a:solidFill>
            </a:endParaRPr>
          </a:p>
        </p:txBody>
      </p:sp>
      <p:sp>
        <p:nvSpPr>
          <p:cNvPr id="7" name="TextBox 6">
            <a:extLst>
              <a:ext uri="{FF2B5EF4-FFF2-40B4-BE49-F238E27FC236}">
                <a16:creationId xmlns:a16="http://schemas.microsoft.com/office/drawing/2014/main" id="{86B79BAB-0195-236A-70B8-3DECB286B2B5}"/>
              </a:ext>
            </a:extLst>
          </p:cNvPr>
          <p:cNvSpPr txBox="1"/>
          <p:nvPr/>
        </p:nvSpPr>
        <p:spPr>
          <a:xfrm>
            <a:off x="3377272" y="3596988"/>
            <a:ext cx="6093724" cy="584775"/>
          </a:xfrm>
          <a:prstGeom prst="rect">
            <a:avLst/>
          </a:prstGeom>
          <a:noFill/>
        </p:spPr>
        <p:txBody>
          <a:bodyPr wrap="square">
            <a:spAutoFit/>
          </a:bodyPr>
          <a:lstStyle/>
          <a:p>
            <a:pPr algn="ctr"/>
            <a:r>
              <a:rPr lang="en-US" sz="3200" b="1">
                <a:solidFill>
                  <a:schemeClr val="accent1">
                    <a:lumMod val="75000"/>
                  </a:schemeClr>
                </a:solidFill>
                <a:latin typeface="+mn-lt"/>
              </a:rPr>
              <a:t>Review-I</a:t>
            </a:r>
            <a:endParaRPr lang="en-US" dirty="0">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E3377-AD48-C317-56EF-BB6DEA41CB0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E7DFF9B-AF13-3CBC-C2B1-8156A6C27ADB}"/>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42E30A3-627A-0C0D-8E68-FFD84EF51DAA}"/>
              </a:ext>
            </a:extLst>
          </p:cNvPr>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Introduction</a:t>
            </a:r>
          </a:p>
        </p:txBody>
      </p:sp>
      <p:sp>
        <p:nvSpPr>
          <p:cNvPr id="5" name="Date Placeholder 4">
            <a:extLst>
              <a:ext uri="{FF2B5EF4-FFF2-40B4-BE49-F238E27FC236}">
                <a16:creationId xmlns:a16="http://schemas.microsoft.com/office/drawing/2014/main" id="{1FE559BE-24A9-DD17-5994-3CA09176D0C0}"/>
              </a:ext>
            </a:extLst>
          </p:cNvPr>
          <p:cNvSpPr>
            <a:spLocks noGrp="1"/>
          </p:cNvSpPr>
          <p:nvPr>
            <p:ph type="dt" sz="half" idx="10"/>
          </p:nvPr>
        </p:nvSpPr>
        <p:spPr/>
        <p:txBody>
          <a:bodyPr/>
          <a:lstStyle/>
          <a:p>
            <a:fld id="{35DB7AC3-148D-47E6-92EE-86CA146E5716}" type="datetime1">
              <a:rPr lang="en-US" smtClean="0"/>
              <a:t>10/31/2026</a:t>
            </a:fld>
            <a:endParaRPr lang="en-US"/>
          </a:p>
        </p:txBody>
      </p:sp>
      <p:sp>
        <p:nvSpPr>
          <p:cNvPr id="6" name="Slide Number Placeholder 5">
            <a:extLst>
              <a:ext uri="{FF2B5EF4-FFF2-40B4-BE49-F238E27FC236}">
                <a16:creationId xmlns:a16="http://schemas.microsoft.com/office/drawing/2014/main" id="{917CD269-83F2-F4C5-3099-E35078586FE9}"/>
              </a:ext>
            </a:extLst>
          </p:cNvPr>
          <p:cNvSpPr>
            <a:spLocks noGrp="1"/>
          </p:cNvSpPr>
          <p:nvPr>
            <p:ph type="sldNum" sz="quarter" idx="12"/>
          </p:nvPr>
        </p:nvSpPr>
        <p:spPr/>
        <p:txBody>
          <a:bodyPr/>
          <a:lstStyle/>
          <a:p>
            <a:fld id="{7EED5C5B-9EF4-44F9-8A5E-F9CA765F3D63}" type="slidenum">
              <a:rPr lang="en-US" smtClean="0"/>
              <a:t>2</a:t>
            </a:fld>
            <a:endParaRPr lang="en-US"/>
          </a:p>
        </p:txBody>
      </p:sp>
      <p:sp>
        <p:nvSpPr>
          <p:cNvPr id="7" name="TextBox 6">
            <a:extLst>
              <a:ext uri="{FF2B5EF4-FFF2-40B4-BE49-F238E27FC236}">
                <a16:creationId xmlns:a16="http://schemas.microsoft.com/office/drawing/2014/main" id="{B0879935-9CC0-78B6-7F3B-AF52516377ED}"/>
              </a:ext>
            </a:extLst>
          </p:cNvPr>
          <p:cNvSpPr txBox="1"/>
          <p:nvPr/>
        </p:nvSpPr>
        <p:spPr>
          <a:xfrm>
            <a:off x="450978" y="2563830"/>
            <a:ext cx="11290041" cy="3693319"/>
          </a:xfrm>
          <a:prstGeom prst="rect">
            <a:avLst/>
          </a:prstGeom>
          <a:noFill/>
        </p:spPr>
        <p:txBody>
          <a:bodyPr wrap="square">
            <a:spAutoFit/>
          </a:bodyPr>
          <a:lstStyle/>
          <a:p>
            <a:pPr algn="just">
              <a:buNone/>
            </a:pPr>
            <a:r>
              <a:rPr lang="en-IN" dirty="0"/>
              <a:t>Memory management is an important function of a Linux operating system because efficient use of memory directly affects system performance, stability, and resource utilization. Linux dynamically allocates and releases memory based on the requirements of running processes. However, understanding how memory is allocated, monitored, and released is essential for identifying inefficient memory usage and preventing problems such as memory leaks and excessive resource consumption. The Linux Dynamic Memory Allocation and Memory Monitoring System is designed to demonstrate and monitor the dynamic allocation of memory in a Linux environment. The system allows memory to be allocated and released during program execution while providing information about memory usage and system resources. The project focuses on concepts such as dynamic memory allocation, process memory usage, memory monitoring, allocation and deallocation, and memory utilization analysis. By combining memory allocation techniques with monitoring mechanisms, the system provides a practical understanding of how Linux manages memory and how applications interact with system memory. Overall, this project helps in understanding the practical aspects of Linux memory management and provides a simple way to observe memory usage, detect inefficient allocation, and improve resource utilization.</a:t>
            </a:r>
          </a:p>
        </p:txBody>
      </p:sp>
    </p:spTree>
    <p:extLst>
      <p:ext uri="{BB962C8B-B14F-4D97-AF65-F5344CB8AC3E}">
        <p14:creationId xmlns:p14="http://schemas.microsoft.com/office/powerpoint/2010/main" val="4016184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197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 System Architecture</a:t>
            </a:r>
            <a:endParaRPr lang="en-US" sz="2800" b="1" dirty="0">
              <a:solidFill>
                <a:schemeClr val="bg1"/>
              </a:solidFill>
            </a:endParaRPr>
          </a:p>
        </p:txBody>
      </p:sp>
      <p:sp>
        <p:nvSpPr>
          <p:cNvPr id="5" name="Date Placeholder 4">
            <a:extLst>
              <a:ext uri="{FF2B5EF4-FFF2-40B4-BE49-F238E27FC236}">
                <a16:creationId xmlns:a16="http://schemas.microsoft.com/office/drawing/2014/main" id="{57C0467B-10ED-0439-355C-AB546904D26E}"/>
              </a:ext>
            </a:extLst>
          </p:cNvPr>
          <p:cNvSpPr>
            <a:spLocks noGrp="1"/>
          </p:cNvSpPr>
          <p:nvPr>
            <p:ph type="dt" sz="half" idx="10"/>
          </p:nvPr>
        </p:nvSpPr>
        <p:spPr/>
        <p:txBody>
          <a:bodyPr/>
          <a:lstStyle/>
          <a:p>
            <a:fld id="{90F60B09-1F77-4EDB-8151-1F057DCF6ADD}" type="datetime1">
              <a:rPr lang="en-US" smtClean="0"/>
              <a:t>10/31/2026</a:t>
            </a:fld>
            <a:endParaRPr lang="en-US"/>
          </a:p>
        </p:txBody>
      </p:sp>
      <p:sp>
        <p:nvSpPr>
          <p:cNvPr id="6" name="Slide Number Placeholder 5">
            <a:extLst>
              <a:ext uri="{FF2B5EF4-FFF2-40B4-BE49-F238E27FC236}">
                <a16:creationId xmlns:a16="http://schemas.microsoft.com/office/drawing/2014/main" id="{B94128EC-BFB0-E687-111E-633D5D579C93}"/>
              </a:ext>
            </a:extLst>
          </p:cNvPr>
          <p:cNvSpPr>
            <a:spLocks noGrp="1"/>
          </p:cNvSpPr>
          <p:nvPr>
            <p:ph type="sldNum" sz="quarter" idx="12"/>
          </p:nvPr>
        </p:nvSpPr>
        <p:spPr/>
        <p:txBody>
          <a:bodyPr/>
          <a:lstStyle/>
          <a:p>
            <a:fld id="{7EED5C5B-9EF4-44F9-8A5E-F9CA765F3D63}" type="slidenum">
              <a:rPr lang="en-US" smtClean="0"/>
              <a:t>3</a:t>
            </a:fld>
            <a:endParaRPr lang="en-US"/>
          </a:p>
        </p:txBody>
      </p:sp>
      <p:pic>
        <p:nvPicPr>
          <p:cNvPr id="7" name="Picture 6">
            <a:extLst>
              <a:ext uri="{FF2B5EF4-FFF2-40B4-BE49-F238E27FC236}">
                <a16:creationId xmlns:a16="http://schemas.microsoft.com/office/drawing/2014/main" id="{0713CDDD-2142-DC91-37F2-7E288DF5132C}"/>
              </a:ext>
            </a:extLst>
          </p:cNvPr>
          <p:cNvPicPr>
            <a:picLocks noChangeAspect="1"/>
          </p:cNvPicPr>
          <p:nvPr/>
        </p:nvPicPr>
        <p:blipFill>
          <a:blip r:embed="rId2"/>
          <a:stretch>
            <a:fillRect/>
          </a:stretch>
        </p:blipFill>
        <p:spPr>
          <a:xfrm>
            <a:off x="3051110" y="1045028"/>
            <a:ext cx="5915608" cy="567644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96004" y="221615"/>
            <a:ext cx="6374349" cy="52959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3"/>
          <p:cNvSpPr txBox="1"/>
          <p:nvPr/>
        </p:nvSpPr>
        <p:spPr>
          <a:xfrm>
            <a:off x="3970655" y="221615"/>
            <a:ext cx="6374348" cy="671195"/>
          </a:xfrm>
          <a:prstGeom prst="rect">
            <a:avLst/>
          </a:prstGeom>
          <a:noFill/>
        </p:spPr>
        <p:txBody>
          <a:bodyPr wrap="square" rtlCol="0">
            <a:noAutofit/>
          </a:bodyPr>
          <a:lstStyle/>
          <a:p>
            <a:r>
              <a:rPr lang="en-US" altLang="en-US" sz="2800" b="1" dirty="0">
                <a:solidFill>
                  <a:schemeClr val="bg1"/>
                </a:solidFill>
              </a:rPr>
              <a:t>Hardware and Software requirements</a:t>
            </a:r>
          </a:p>
        </p:txBody>
      </p:sp>
      <p:sp>
        <p:nvSpPr>
          <p:cNvPr id="3" name="Date Placeholder 2">
            <a:extLst>
              <a:ext uri="{FF2B5EF4-FFF2-40B4-BE49-F238E27FC236}">
                <a16:creationId xmlns:a16="http://schemas.microsoft.com/office/drawing/2014/main" id="{7A4B27F7-CA90-4D59-F334-BDE7693BDAAC}"/>
              </a:ext>
            </a:extLst>
          </p:cNvPr>
          <p:cNvSpPr>
            <a:spLocks noGrp="1"/>
          </p:cNvSpPr>
          <p:nvPr>
            <p:ph type="dt" sz="half" idx="10"/>
          </p:nvPr>
        </p:nvSpPr>
        <p:spPr/>
        <p:txBody>
          <a:bodyPr/>
          <a:lstStyle/>
          <a:p>
            <a:fld id="{FEC03DE9-87EE-417A-AE3E-75342F0B996E}" type="datetime1">
              <a:rPr lang="en-US" smtClean="0"/>
              <a:t>10/31/2026</a:t>
            </a:fld>
            <a:endParaRPr lang="en-US"/>
          </a:p>
        </p:txBody>
      </p:sp>
      <p:sp>
        <p:nvSpPr>
          <p:cNvPr id="6" name="Slide Number Placeholder 5">
            <a:extLst>
              <a:ext uri="{FF2B5EF4-FFF2-40B4-BE49-F238E27FC236}">
                <a16:creationId xmlns:a16="http://schemas.microsoft.com/office/drawing/2014/main" id="{C9563280-B772-867A-6341-08A7DB8CCFB2}"/>
              </a:ext>
            </a:extLst>
          </p:cNvPr>
          <p:cNvSpPr>
            <a:spLocks noGrp="1"/>
          </p:cNvSpPr>
          <p:nvPr>
            <p:ph type="sldNum" sz="quarter" idx="12"/>
          </p:nvPr>
        </p:nvSpPr>
        <p:spPr/>
        <p:txBody>
          <a:bodyPr/>
          <a:lstStyle/>
          <a:p>
            <a:fld id="{7EED5C5B-9EF4-44F9-8A5E-F9CA765F3D63}" type="slidenum">
              <a:rPr lang="en-US" smtClean="0"/>
              <a:t>4</a:t>
            </a:fld>
            <a:endParaRPr lang="en-US"/>
          </a:p>
        </p:txBody>
      </p:sp>
      <p:graphicFrame>
        <p:nvGraphicFramePr>
          <p:cNvPr id="11" name="Table 10">
            <a:extLst>
              <a:ext uri="{FF2B5EF4-FFF2-40B4-BE49-F238E27FC236}">
                <a16:creationId xmlns:a16="http://schemas.microsoft.com/office/drawing/2014/main" id="{969CAD3E-2017-D406-CA50-A5F697565392}"/>
              </a:ext>
            </a:extLst>
          </p:cNvPr>
          <p:cNvGraphicFramePr>
            <a:graphicFrameLocks noGrp="1"/>
          </p:cNvGraphicFramePr>
          <p:nvPr>
            <p:extLst>
              <p:ext uri="{D42A27DB-BD31-4B8C-83A1-F6EECF244321}">
                <p14:modId xmlns:p14="http://schemas.microsoft.com/office/powerpoint/2010/main" val="461673341"/>
              </p:ext>
            </p:extLst>
          </p:nvPr>
        </p:nvGraphicFramePr>
        <p:xfrm>
          <a:off x="121298" y="1334407"/>
          <a:ext cx="11495314" cy="2194560"/>
        </p:xfrm>
        <a:graphic>
          <a:graphicData uri="http://schemas.openxmlformats.org/drawingml/2006/table">
            <a:tbl>
              <a:tblPr>
                <a:tableStyleId>{5C22544A-7EE6-4342-B048-85BDC9FD1C3A}</a:tableStyleId>
              </a:tblPr>
              <a:tblGrid>
                <a:gridCol w="5747657">
                  <a:extLst>
                    <a:ext uri="{9D8B030D-6E8A-4147-A177-3AD203B41FA5}">
                      <a16:colId xmlns:a16="http://schemas.microsoft.com/office/drawing/2014/main" val="635142784"/>
                    </a:ext>
                  </a:extLst>
                </a:gridCol>
                <a:gridCol w="5747657">
                  <a:extLst>
                    <a:ext uri="{9D8B030D-6E8A-4147-A177-3AD203B41FA5}">
                      <a16:colId xmlns:a16="http://schemas.microsoft.com/office/drawing/2014/main" val="6050149"/>
                    </a:ext>
                  </a:extLst>
                </a:gridCol>
              </a:tblGrid>
              <a:tr h="0">
                <a:tc>
                  <a:txBody>
                    <a:bodyPr/>
                    <a:lstStyle/>
                    <a:p>
                      <a:pPr>
                        <a:buNone/>
                      </a:pPr>
                      <a:r>
                        <a:rPr lang="en-IN" dirty="0"/>
                        <a:t>Component</a:t>
                      </a:r>
                    </a:p>
                  </a:txBody>
                  <a:tcPr anchor="ctr"/>
                </a:tc>
                <a:tc>
                  <a:txBody>
                    <a:bodyPr/>
                    <a:lstStyle/>
                    <a:p>
                      <a:pPr>
                        <a:buNone/>
                      </a:pPr>
                      <a:r>
                        <a:rPr lang="en-IN"/>
                        <a:t>Requirement</a:t>
                      </a:r>
                    </a:p>
                  </a:txBody>
                  <a:tcPr anchor="ctr"/>
                </a:tc>
                <a:extLst>
                  <a:ext uri="{0D108BD9-81ED-4DB2-BD59-A6C34878D82A}">
                    <a16:rowId xmlns:a16="http://schemas.microsoft.com/office/drawing/2014/main" val="3009855426"/>
                  </a:ext>
                </a:extLst>
              </a:tr>
              <a:tr h="0">
                <a:tc>
                  <a:txBody>
                    <a:bodyPr/>
                    <a:lstStyle/>
                    <a:p>
                      <a:pPr>
                        <a:buNone/>
                      </a:pPr>
                      <a:r>
                        <a:rPr lang="en-IN"/>
                        <a:t>Processor</a:t>
                      </a:r>
                    </a:p>
                  </a:txBody>
                  <a:tcPr anchor="ctr"/>
                </a:tc>
                <a:tc>
                  <a:txBody>
                    <a:bodyPr/>
                    <a:lstStyle/>
                    <a:p>
                      <a:pPr>
                        <a:buNone/>
                      </a:pPr>
                      <a:r>
                        <a:rPr lang="en-IN"/>
                        <a:t>Intel Core i3 or equivalent and above</a:t>
                      </a:r>
                    </a:p>
                  </a:txBody>
                  <a:tcPr anchor="ctr"/>
                </a:tc>
                <a:extLst>
                  <a:ext uri="{0D108BD9-81ED-4DB2-BD59-A6C34878D82A}">
                    <a16:rowId xmlns:a16="http://schemas.microsoft.com/office/drawing/2014/main" val="356634775"/>
                  </a:ext>
                </a:extLst>
              </a:tr>
              <a:tr h="0">
                <a:tc>
                  <a:txBody>
                    <a:bodyPr/>
                    <a:lstStyle/>
                    <a:p>
                      <a:pPr>
                        <a:buNone/>
                      </a:pPr>
                      <a:r>
                        <a:rPr lang="en-IN"/>
                        <a:t>RAM</a:t>
                      </a:r>
                    </a:p>
                  </a:txBody>
                  <a:tcPr anchor="ctr"/>
                </a:tc>
                <a:tc>
                  <a:txBody>
                    <a:bodyPr/>
                    <a:lstStyle/>
                    <a:p>
                      <a:pPr>
                        <a:buNone/>
                      </a:pPr>
                      <a:r>
                        <a:rPr lang="en-IN"/>
                        <a:t>Minimum 4 GB</a:t>
                      </a:r>
                    </a:p>
                  </a:txBody>
                  <a:tcPr anchor="ctr"/>
                </a:tc>
                <a:extLst>
                  <a:ext uri="{0D108BD9-81ED-4DB2-BD59-A6C34878D82A}">
                    <a16:rowId xmlns:a16="http://schemas.microsoft.com/office/drawing/2014/main" val="2192337056"/>
                  </a:ext>
                </a:extLst>
              </a:tr>
              <a:tr h="0">
                <a:tc>
                  <a:txBody>
                    <a:bodyPr/>
                    <a:lstStyle/>
                    <a:p>
                      <a:pPr>
                        <a:buNone/>
                      </a:pPr>
                      <a:r>
                        <a:rPr lang="en-IN" dirty="0"/>
                        <a:t>Storage</a:t>
                      </a:r>
                    </a:p>
                  </a:txBody>
                  <a:tcPr anchor="ctr"/>
                </a:tc>
                <a:tc>
                  <a:txBody>
                    <a:bodyPr/>
                    <a:lstStyle/>
                    <a:p>
                      <a:pPr>
                        <a:buNone/>
                      </a:pPr>
                      <a:r>
                        <a:rPr lang="en-IN"/>
                        <a:t>Minimum 10 GB free space</a:t>
                      </a:r>
                    </a:p>
                  </a:txBody>
                  <a:tcPr anchor="ctr"/>
                </a:tc>
                <a:extLst>
                  <a:ext uri="{0D108BD9-81ED-4DB2-BD59-A6C34878D82A}">
                    <a16:rowId xmlns:a16="http://schemas.microsoft.com/office/drawing/2014/main" val="146923920"/>
                  </a:ext>
                </a:extLst>
              </a:tr>
              <a:tr h="0">
                <a:tc>
                  <a:txBody>
                    <a:bodyPr/>
                    <a:lstStyle/>
                    <a:p>
                      <a:pPr>
                        <a:buNone/>
                      </a:pPr>
                      <a:r>
                        <a:rPr lang="en-IN"/>
                        <a:t>Display</a:t>
                      </a:r>
                    </a:p>
                  </a:txBody>
                  <a:tcPr anchor="ctr"/>
                </a:tc>
                <a:tc>
                  <a:txBody>
                    <a:bodyPr/>
                    <a:lstStyle/>
                    <a:p>
                      <a:pPr>
                        <a:buNone/>
                      </a:pPr>
                      <a:r>
                        <a:rPr lang="en-IN"/>
                        <a:t>Standard monitor</a:t>
                      </a:r>
                    </a:p>
                  </a:txBody>
                  <a:tcPr anchor="ctr"/>
                </a:tc>
                <a:extLst>
                  <a:ext uri="{0D108BD9-81ED-4DB2-BD59-A6C34878D82A}">
                    <a16:rowId xmlns:a16="http://schemas.microsoft.com/office/drawing/2014/main" val="3955774442"/>
                  </a:ext>
                </a:extLst>
              </a:tr>
              <a:tr h="0">
                <a:tc>
                  <a:txBody>
                    <a:bodyPr/>
                    <a:lstStyle/>
                    <a:p>
                      <a:pPr>
                        <a:buNone/>
                      </a:pPr>
                      <a:r>
                        <a:rPr lang="en-IN"/>
                        <a:t>Keyboard &amp; Mouse</a:t>
                      </a:r>
                    </a:p>
                  </a:txBody>
                  <a:tcPr anchor="ctr"/>
                </a:tc>
                <a:tc>
                  <a:txBody>
                    <a:bodyPr/>
                    <a:lstStyle/>
                    <a:p>
                      <a:pPr>
                        <a:buNone/>
                      </a:pPr>
                      <a:r>
                        <a:rPr lang="en-IN" dirty="0"/>
                        <a:t>Standard keyboard and mouse</a:t>
                      </a:r>
                    </a:p>
                  </a:txBody>
                  <a:tcPr anchor="ctr"/>
                </a:tc>
                <a:extLst>
                  <a:ext uri="{0D108BD9-81ED-4DB2-BD59-A6C34878D82A}">
                    <a16:rowId xmlns:a16="http://schemas.microsoft.com/office/drawing/2014/main" val="1177783519"/>
                  </a:ext>
                </a:extLst>
              </a:tr>
            </a:tbl>
          </a:graphicData>
        </a:graphic>
      </p:graphicFrame>
      <p:sp>
        <p:nvSpPr>
          <p:cNvPr id="13" name="TextBox 12">
            <a:extLst>
              <a:ext uri="{FF2B5EF4-FFF2-40B4-BE49-F238E27FC236}">
                <a16:creationId xmlns:a16="http://schemas.microsoft.com/office/drawing/2014/main" id="{B8038330-4265-047D-E6E0-7CB699E4CD7B}"/>
              </a:ext>
            </a:extLst>
          </p:cNvPr>
          <p:cNvSpPr txBox="1"/>
          <p:nvPr/>
        </p:nvSpPr>
        <p:spPr>
          <a:xfrm>
            <a:off x="121298" y="965075"/>
            <a:ext cx="2509935"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buNone/>
            </a:pPr>
            <a:r>
              <a:rPr lang="en-IN" b="1" dirty="0"/>
              <a:t>Hardware Requirements</a:t>
            </a:r>
          </a:p>
        </p:txBody>
      </p:sp>
      <p:sp>
        <p:nvSpPr>
          <p:cNvPr id="14" name="TextBox 13">
            <a:extLst>
              <a:ext uri="{FF2B5EF4-FFF2-40B4-BE49-F238E27FC236}">
                <a16:creationId xmlns:a16="http://schemas.microsoft.com/office/drawing/2014/main" id="{D9EFE026-51E6-B3E7-E9A9-43E716A58912}"/>
              </a:ext>
            </a:extLst>
          </p:cNvPr>
          <p:cNvSpPr txBox="1"/>
          <p:nvPr/>
        </p:nvSpPr>
        <p:spPr>
          <a:xfrm>
            <a:off x="121297" y="3568109"/>
            <a:ext cx="2509935"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buNone/>
            </a:pPr>
            <a:r>
              <a:rPr lang="en-IN" b="1" dirty="0"/>
              <a:t>Software Requirements</a:t>
            </a:r>
          </a:p>
        </p:txBody>
      </p:sp>
      <p:graphicFrame>
        <p:nvGraphicFramePr>
          <p:cNvPr id="15" name="Table 14">
            <a:extLst>
              <a:ext uri="{FF2B5EF4-FFF2-40B4-BE49-F238E27FC236}">
                <a16:creationId xmlns:a16="http://schemas.microsoft.com/office/drawing/2014/main" id="{F696A412-7FC3-F9F6-185A-2A1C5BFB144B}"/>
              </a:ext>
            </a:extLst>
          </p:cNvPr>
          <p:cNvGraphicFramePr>
            <a:graphicFrameLocks noGrp="1"/>
          </p:cNvGraphicFramePr>
          <p:nvPr>
            <p:extLst>
              <p:ext uri="{D42A27DB-BD31-4B8C-83A1-F6EECF244321}">
                <p14:modId xmlns:p14="http://schemas.microsoft.com/office/powerpoint/2010/main" val="1582851821"/>
              </p:ext>
            </p:extLst>
          </p:nvPr>
        </p:nvGraphicFramePr>
        <p:xfrm>
          <a:off x="121297" y="3937441"/>
          <a:ext cx="11495314" cy="2560320"/>
        </p:xfrm>
        <a:graphic>
          <a:graphicData uri="http://schemas.openxmlformats.org/drawingml/2006/table">
            <a:tbl>
              <a:tblPr>
                <a:tableStyleId>{5C22544A-7EE6-4342-B048-85BDC9FD1C3A}</a:tableStyleId>
              </a:tblPr>
              <a:tblGrid>
                <a:gridCol w="5747657">
                  <a:extLst>
                    <a:ext uri="{9D8B030D-6E8A-4147-A177-3AD203B41FA5}">
                      <a16:colId xmlns:a16="http://schemas.microsoft.com/office/drawing/2014/main" val="1940657147"/>
                    </a:ext>
                  </a:extLst>
                </a:gridCol>
                <a:gridCol w="5747657">
                  <a:extLst>
                    <a:ext uri="{9D8B030D-6E8A-4147-A177-3AD203B41FA5}">
                      <a16:colId xmlns:a16="http://schemas.microsoft.com/office/drawing/2014/main" val="2642757468"/>
                    </a:ext>
                  </a:extLst>
                </a:gridCol>
              </a:tblGrid>
              <a:tr h="0">
                <a:tc>
                  <a:txBody>
                    <a:bodyPr/>
                    <a:lstStyle/>
                    <a:p>
                      <a:pPr>
                        <a:buNone/>
                      </a:pPr>
                      <a:r>
                        <a:rPr lang="en-IN" dirty="0"/>
                        <a:t>Operating System</a:t>
                      </a:r>
                    </a:p>
                  </a:txBody>
                  <a:tcPr anchor="ctr"/>
                </a:tc>
                <a:tc>
                  <a:txBody>
                    <a:bodyPr/>
                    <a:lstStyle/>
                    <a:p>
                      <a:pPr>
                        <a:buNone/>
                      </a:pPr>
                      <a:r>
                        <a:rPr lang="en-IN" dirty="0"/>
                        <a:t>Linux (Ubuntu 20.04/22.04 or later recommended)</a:t>
                      </a:r>
                    </a:p>
                  </a:txBody>
                  <a:tcPr anchor="ctr"/>
                </a:tc>
                <a:extLst>
                  <a:ext uri="{0D108BD9-81ED-4DB2-BD59-A6C34878D82A}">
                    <a16:rowId xmlns:a16="http://schemas.microsoft.com/office/drawing/2014/main" val="2737629660"/>
                  </a:ext>
                </a:extLst>
              </a:tr>
              <a:tr h="0">
                <a:tc>
                  <a:txBody>
                    <a:bodyPr/>
                    <a:lstStyle/>
                    <a:p>
                      <a:pPr>
                        <a:buNone/>
                      </a:pPr>
                      <a:r>
                        <a:rPr lang="en-IN"/>
                        <a:t>Programming Language</a:t>
                      </a:r>
                    </a:p>
                  </a:txBody>
                  <a:tcPr anchor="ctr"/>
                </a:tc>
                <a:tc>
                  <a:txBody>
                    <a:bodyPr/>
                    <a:lstStyle/>
                    <a:p>
                      <a:pPr>
                        <a:buNone/>
                      </a:pPr>
                      <a:r>
                        <a:rPr lang="en-IN"/>
                        <a:t>C</a:t>
                      </a:r>
                    </a:p>
                  </a:txBody>
                  <a:tcPr anchor="ctr"/>
                </a:tc>
                <a:extLst>
                  <a:ext uri="{0D108BD9-81ED-4DB2-BD59-A6C34878D82A}">
                    <a16:rowId xmlns:a16="http://schemas.microsoft.com/office/drawing/2014/main" val="3322078750"/>
                  </a:ext>
                </a:extLst>
              </a:tr>
              <a:tr h="0">
                <a:tc>
                  <a:txBody>
                    <a:bodyPr/>
                    <a:lstStyle/>
                    <a:p>
                      <a:pPr>
                        <a:buNone/>
                      </a:pPr>
                      <a:r>
                        <a:rPr lang="en-IN"/>
                        <a:t>Compiler</a:t>
                      </a:r>
                    </a:p>
                  </a:txBody>
                  <a:tcPr anchor="ctr"/>
                </a:tc>
                <a:tc>
                  <a:txBody>
                    <a:bodyPr/>
                    <a:lstStyle/>
                    <a:p>
                      <a:pPr>
                        <a:buNone/>
                      </a:pPr>
                      <a:r>
                        <a:rPr lang="en-IN"/>
                        <a:t>GCC (GNU Compiler Collection)</a:t>
                      </a:r>
                    </a:p>
                  </a:txBody>
                  <a:tcPr anchor="ctr"/>
                </a:tc>
                <a:extLst>
                  <a:ext uri="{0D108BD9-81ED-4DB2-BD59-A6C34878D82A}">
                    <a16:rowId xmlns:a16="http://schemas.microsoft.com/office/drawing/2014/main" val="2811591327"/>
                  </a:ext>
                </a:extLst>
              </a:tr>
              <a:tr h="0">
                <a:tc>
                  <a:txBody>
                    <a:bodyPr/>
                    <a:lstStyle/>
                    <a:p>
                      <a:pPr>
                        <a:buNone/>
                      </a:pPr>
                      <a:r>
                        <a:rPr lang="en-IN"/>
                        <a:t>Development Environment</a:t>
                      </a:r>
                    </a:p>
                  </a:txBody>
                  <a:tcPr anchor="ctr"/>
                </a:tc>
                <a:tc>
                  <a:txBody>
                    <a:bodyPr/>
                    <a:lstStyle/>
                    <a:p>
                      <a:pPr>
                        <a:buNone/>
                      </a:pPr>
                      <a:r>
                        <a:rPr lang="en-IN"/>
                        <a:t>VS Code / Vim / Nano / any C IDE</a:t>
                      </a:r>
                    </a:p>
                  </a:txBody>
                  <a:tcPr anchor="ctr"/>
                </a:tc>
                <a:extLst>
                  <a:ext uri="{0D108BD9-81ED-4DB2-BD59-A6C34878D82A}">
                    <a16:rowId xmlns:a16="http://schemas.microsoft.com/office/drawing/2014/main" val="1596636590"/>
                  </a:ext>
                </a:extLst>
              </a:tr>
              <a:tr h="0">
                <a:tc>
                  <a:txBody>
                    <a:bodyPr/>
                    <a:lstStyle/>
                    <a:p>
                      <a:pPr>
                        <a:buNone/>
                      </a:pPr>
                      <a:r>
                        <a:rPr lang="en-IN"/>
                        <a:t>Build Tool</a:t>
                      </a:r>
                    </a:p>
                  </a:txBody>
                  <a:tcPr anchor="ctr"/>
                </a:tc>
                <a:tc>
                  <a:txBody>
                    <a:bodyPr/>
                    <a:lstStyle/>
                    <a:p>
                      <a:pPr>
                        <a:buNone/>
                      </a:pPr>
                      <a:r>
                        <a:rPr lang="en-IN"/>
                        <a:t>GNU Make (optional)</a:t>
                      </a:r>
                    </a:p>
                  </a:txBody>
                  <a:tcPr anchor="ctr"/>
                </a:tc>
                <a:extLst>
                  <a:ext uri="{0D108BD9-81ED-4DB2-BD59-A6C34878D82A}">
                    <a16:rowId xmlns:a16="http://schemas.microsoft.com/office/drawing/2014/main" val="2880568109"/>
                  </a:ext>
                </a:extLst>
              </a:tr>
              <a:tr h="0">
                <a:tc>
                  <a:txBody>
                    <a:bodyPr/>
                    <a:lstStyle/>
                    <a:p>
                      <a:pPr>
                        <a:buNone/>
                      </a:pPr>
                      <a:r>
                        <a:rPr lang="en-IN"/>
                        <a:t>System Monitoring Tools</a:t>
                      </a:r>
                    </a:p>
                  </a:txBody>
                  <a:tcPr anchor="ctr"/>
                </a:tc>
                <a:tc>
                  <a:txBody>
                    <a:bodyPr/>
                    <a:lstStyle/>
                    <a:p>
                      <a:pPr>
                        <a:buNone/>
                      </a:pPr>
                      <a:r>
                        <a:rPr lang="en-IN"/>
                        <a:t>free, top, htop, /proc/meminfo</a:t>
                      </a:r>
                    </a:p>
                  </a:txBody>
                  <a:tcPr anchor="ctr"/>
                </a:tc>
                <a:extLst>
                  <a:ext uri="{0D108BD9-81ED-4DB2-BD59-A6C34878D82A}">
                    <a16:rowId xmlns:a16="http://schemas.microsoft.com/office/drawing/2014/main" val="1945418219"/>
                  </a:ext>
                </a:extLst>
              </a:tr>
              <a:tr h="0">
                <a:tc>
                  <a:txBody>
                    <a:bodyPr/>
                    <a:lstStyle/>
                    <a:p>
                      <a:pPr>
                        <a:buNone/>
                      </a:pPr>
                      <a:r>
                        <a:rPr lang="en-IN"/>
                        <a:t>Terminal</a:t>
                      </a:r>
                    </a:p>
                  </a:txBody>
                  <a:tcPr anchor="ctr"/>
                </a:tc>
                <a:tc>
                  <a:txBody>
                    <a:bodyPr/>
                    <a:lstStyle/>
                    <a:p>
                      <a:pPr>
                        <a:buNone/>
                      </a:pPr>
                      <a:r>
                        <a:rPr lang="en-IN" dirty="0"/>
                        <a:t>Linux Terminal / Bash</a:t>
                      </a:r>
                    </a:p>
                  </a:txBody>
                  <a:tcPr anchor="ctr"/>
                </a:tc>
                <a:extLst>
                  <a:ext uri="{0D108BD9-81ED-4DB2-BD59-A6C34878D82A}">
                    <a16:rowId xmlns:a16="http://schemas.microsoft.com/office/drawing/2014/main" val="255229151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
        <p:nvSpPr>
          <p:cNvPr id="2" name="Date Placeholder 1">
            <a:extLst>
              <a:ext uri="{FF2B5EF4-FFF2-40B4-BE49-F238E27FC236}">
                <a16:creationId xmlns:a16="http://schemas.microsoft.com/office/drawing/2014/main" id="{9D864234-7A34-7521-498A-DD3F6E491DB4}"/>
              </a:ext>
            </a:extLst>
          </p:cNvPr>
          <p:cNvSpPr>
            <a:spLocks noGrp="1"/>
          </p:cNvSpPr>
          <p:nvPr>
            <p:ph type="dt" sz="half" idx="10"/>
          </p:nvPr>
        </p:nvSpPr>
        <p:spPr/>
        <p:txBody>
          <a:bodyPr/>
          <a:lstStyle/>
          <a:p>
            <a:fld id="{76602186-ABE7-42AB-8003-2FA9F73CA34D}" type="datetime1">
              <a:rPr lang="en-US" smtClean="0"/>
              <a:t>10/31/2026</a:t>
            </a:fld>
            <a:endParaRPr lang="en-US"/>
          </a:p>
        </p:txBody>
      </p:sp>
      <p:sp>
        <p:nvSpPr>
          <p:cNvPr id="4" name="Slide Number Placeholder 3">
            <a:extLst>
              <a:ext uri="{FF2B5EF4-FFF2-40B4-BE49-F238E27FC236}">
                <a16:creationId xmlns:a16="http://schemas.microsoft.com/office/drawing/2014/main" id="{9A89A4F7-9EC8-2129-C8BB-C74E5E40CE1A}"/>
              </a:ext>
            </a:extLst>
          </p:cNvPr>
          <p:cNvSpPr>
            <a:spLocks noGrp="1"/>
          </p:cNvSpPr>
          <p:nvPr>
            <p:ph type="sldNum" sz="quarter" idx="12"/>
          </p:nvPr>
        </p:nvSpPr>
        <p:spPr/>
        <p:txBody>
          <a:bodyPr/>
          <a:lstStyle/>
          <a:p>
            <a:fld id="{7EED5C5B-9EF4-44F9-8A5E-F9CA765F3D63}" type="slidenum">
              <a:rPr lang="en-US" smtClean="0"/>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365</Words>
  <Application>Microsoft Office PowerPoint</Application>
  <PresentationFormat>Widescreen</PresentationFormat>
  <Paragraphs>51</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Times New Roman</vt:lpstr>
      <vt:lpstr>Office Theme</vt:lpstr>
      <vt:lpstr>       Operating system and system programming (25CS2104E)  Linux Dynamic Memory Allocation and Memory Monitoring System</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Kavya Aluru</cp:lastModifiedBy>
  <cp:revision>32</cp:revision>
  <dcterms:created xsi:type="dcterms:W3CDTF">2026-08-31T05:18:20Z</dcterms:created>
  <dcterms:modified xsi:type="dcterms:W3CDTF">2026-10-31T07:36:16Z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2E321512259BCFD0FA0C956AC94F79BD_43</vt:lpwstr>
  </property>
  <property fmtid="{D5CDD505-2E9C-101B-9397-08002B2CF9AE}" pid="3" name="KSOProductBuildVer">
    <vt:lpwstr>1033-12.1.26050.26050</vt:lpwstr>
  </property>
</Properties>
</file>